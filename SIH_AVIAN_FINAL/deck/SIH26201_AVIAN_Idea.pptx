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prsindia.org/policy/report-summaries/maintenance-of-bridges-in-indian-railways-a-review" TargetMode="External"/><Relationship Id="rId5" Type="http://schemas.openxmlformats.org/officeDocument/2006/relationships/hyperlink" Target="https://en.wikipedia.org/wiki/Gambhira_Bridge_collapse" TargetMode="External"/><Relationship Id="rId6" Type="http://schemas.openxmlformats.org/officeDocument/2006/relationships/hyperlink" Target="https://xxgk.mot.gov.cn/jigou/glj/202602/P020260228435553861410.pdf" TargetMode="External"/><Relationship Id="rId7" Type="http://schemas.openxmlformats.org/officeDocument/2006/relationships/hyperlink" Target="https://pib.gov.in/PressReleasePage.aspx?PRID=1833750" TargetMode="External"/><Relationship Id="rId8" Type="http://schemas.openxmlformats.org/officeDocument/2006/relationships/hyperlink" Target="https://doi.org/10.1061/JPCFEV.CFENG-5441" TargetMode="External"/><Relationship Id="rId9" Type="http://schemas.openxmlformats.org/officeDocument/2006/relationships/hyperlink" Target="https://arxiv.org/abs/1904.08486" TargetMode="External"/><Relationship Id="rId10" Type="http://schemas.openxmlformats.org/officeDocument/2006/relationships/hyperlink" Target="https://arxiv.org/abs/2309.00460" TargetMode="External"/><Relationship Id="rId11" Type="http://schemas.openxmlformats.org/officeDocument/2006/relationships/hyperlink" Target="https://flyability.com/elios-3" TargetMode="External"/><Relationship Id="rId12" Type="http://schemas.openxmlformats.org/officeDocument/2006/relationships/hyperlink" Target="https://pytorch.org/vision/stable/model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b="0" sz="1500">
                <a:solidFill>
                  <a:srgbClr val="1F2A44"/>
                </a:solidFill>
                <a:latin typeface="Arial"/>
              </a:rPr>
              <a:t> SIH26201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b="0" sz="1200">
                <a:solidFill>
                  <a:srgbClr val="1F2A44"/>
                </a:solidFill>
                <a:latin typeface="Arial"/>
              </a:rPr>
              <a:t> Student Innovation-There is a need to design drones and robots that can solve some of the pressing challenges of India such as handling medical emergencies, search and rescue operations, etc.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b="0" sz="1500">
                <a:solidFill>
                  <a:srgbClr val="1F2A44"/>
                </a:solidFill>
                <a:latin typeface="Arial"/>
              </a:rPr>
              <a:t> Robotics and Drones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b="0" sz="1500">
                <a:solidFill>
                  <a:srgbClr val="1F2A44"/>
                </a:solidFill>
                <a:latin typeface="Arial"/>
              </a:rPr>
              <a:t>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b="0" sz="1500">
                <a:solidFill>
                  <a:srgbClr val="1F2A44"/>
                </a:solidFill>
                <a:latin typeface="Arial"/>
              </a:rPr>
              <a:t> 129300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b="0" sz="1500">
                <a:solidFill>
                  <a:srgbClr val="1F2A44"/>
                </a:solidFill>
                <a:latin typeface="Arial"/>
              </a:rPr>
              <a:t> - @TRINETRA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AVIAN: Autonomous Bridge-Inspection Drone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100" b="1"/>
              <a:t>@TRINETRA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u="sng">
                <a:solidFill>
                  <a:srgbClr val="1F4E79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664208"/>
            <a:ext cx="6720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Detailed explanation of the proposed solution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Plans its own inspection route from the bridge's 3D model — no list of known defects needed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Flies the route autonomously, steering clear of steel and concrete using on-board range sensing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A zoom camera captures millimetre-level detail from a safe 8 m standoff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AI flags cracks, spalling and corrosion and tags each one to the exact bridge member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3035808"/>
            <a:ext cx="672084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How it addresses the problem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India's railways alone have 1,47,523 bridges; 37,689 are over 100 years old. They are checked “by visual perception” with ~40% of bridge-staff posts vacant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Every span gets a repeatable, geo-tagged image record instead of one person's judgement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Reaches under-deck and truss zones with no rope access, scaffolding or lane closure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57200" y="4517136"/>
            <a:ext cx="6720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Innovation and uniqueness of the solution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Route planned from geometry only — code-audited to read zero defect data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“Survey + zoom” instead of flying close: keeps ≥ 3 m from structure, as China's 2026 UAV bridge-inspection guideline requires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1F2A44"/>
                </a:solidFill>
                <a:latin typeface="Arial"/>
              </a:rPr>
              <a:t>Every run is scored against a digital twin with 192 known defects, so results are measured, not claimed</a:t>
            </a:r>
          </a:p>
        </p:txBody>
      </p:sp>
      <p:pic>
        <p:nvPicPr>
          <p:cNvPr id="15366" name="Picture 15365" descr="CAM_10_TRUSS.jpg"/>
          <p:cNvPicPr>
            <a:picLocks noChangeAspect="1"/>
          </p:cNvPicPr>
          <p:nvPr/>
        </p:nvPicPr>
        <p:blipFill>
          <a:blip r:embed="rId4"/>
          <a:srcRect t="47" b="47"/>
          <a:stretch>
            <a:fillRect/>
          </a:stretch>
        </p:blipFill>
        <p:spPr>
          <a:xfrm>
            <a:off x="7452360" y="1691640"/>
            <a:ext cx="4279392" cy="2404872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7452360" y="4142232"/>
            <a:ext cx="4279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96270"/>
                </a:solidFill>
                <a:latin typeface="Arial"/>
              </a:rPr>
              <a:t>Our digital twin: 360 m road bridge + steel truss + metro viaduct, with 192 measured defects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452360" y="4590288"/>
            <a:ext cx="4279392" cy="1481328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TextBox 15368"/>
          <p:cNvSpPr txBox="1"/>
          <p:nvPr/>
        </p:nvSpPr>
        <p:spPr>
          <a:xfrm>
            <a:off x="7635240" y="4700016"/>
            <a:ext cx="3913631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45F06"/>
                </a:solidFill>
                <a:latin typeface="Arial"/>
              </a:rPr>
              <a:t>Why now — 9 July 2025</a:t>
            </a:r>
          </a:p>
          <a:p>
            <a:pPr algn="l"/>
            <a:r>
              <a:rPr sz="1100" b="0" i="0">
                <a:solidFill>
                  <a:srgbClr val="1F2A44"/>
                </a:solidFill>
                <a:latin typeface="Arial"/>
              </a:rPr>
              <a:t>The 40-year-old Gambhira bridge linking Vadodara and Anand districts collapsed into the Mahisagar river, killing 22. Residents had reportedly warned about its condition for years; four engineers were suspended for lapses in maintenance and supervision. (ref.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100" b="1"/>
              <a:t>@TRINETRA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600200"/>
            <a:ext cx="2688336" cy="14813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603504" y="1700784"/>
            <a:ext cx="239572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Digital twin &amp; simulation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Blender: bridge model, 192 measured defects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PyBullet: flight physics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Gazebo + ROS 2 Jazzy: exported world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319272" y="1600200"/>
            <a:ext cx="2688336" cy="14813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465576" y="1700784"/>
            <a:ext cx="239572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Autonomy (Python)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Cascade PID flight controller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Coverage planner (greedy set-cover)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Ray-cast range sensor for avoidance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81344" y="1600200"/>
            <a:ext cx="2688336" cy="14813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6327648" y="1700784"/>
            <a:ext cx="239572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AI defect detection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PyTorch + torchvision Faster R-CNN (MobileNetV3)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BSD-3 licence — free to hand over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Trained on rendered defect images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9043416" y="1600200"/>
            <a:ext cx="2688336" cy="14813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9189720" y="1700784"/>
            <a:ext cx="239572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Target hardware (planned)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PX4 quadcopter + zoom gimbal camera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LiDAR / visual-inertial SLAM</a:t>
            </a:r>
          </a:p>
          <a:p>
            <a:pPr algn="l" marL="164592" indent="-164592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F2A44"/>
                </a:solidFill>
                <a:latin typeface="Arial"/>
              </a:rPr>
              <a:t>Jetson-class on-board computer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57200" y="331012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57200" y="3730752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566928" y="384048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69264" y="3867912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A44"/>
                </a:solidFill>
                <a:latin typeface="Arial"/>
              </a:rPr>
              <a:t>Digital twin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66928" y="4279392"/>
            <a:ext cx="14264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6270"/>
                </a:solidFill>
                <a:latin typeface="Arial"/>
              </a:rPr>
              <a:t>Bridge 3D model → 568 collision shapes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2148839" y="4224528"/>
            <a:ext cx="18836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2382926" y="3730752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2492654" y="384048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894990" y="3867912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A44"/>
                </a:solidFill>
                <a:latin typeface="Arial"/>
              </a:rPr>
              <a:t>Plan coverage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492654" y="4279392"/>
            <a:ext cx="14264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6270"/>
                </a:solidFill>
                <a:latin typeface="Arial"/>
              </a:rPr>
              <a:t>150 viewpoints from geometry only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4074566" y="4224528"/>
            <a:ext cx="18836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308652" y="3730752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Oval 17430"/>
          <p:cNvSpPr/>
          <p:nvPr/>
        </p:nvSpPr>
        <p:spPr>
          <a:xfrm>
            <a:off x="4418380" y="384048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820716" y="3867912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A44"/>
                </a:solidFill>
                <a:latin typeface="Arial"/>
              </a:rPr>
              <a:t>Fly &amp; avoid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418380" y="4279392"/>
            <a:ext cx="14264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6270"/>
                </a:solidFill>
                <a:latin typeface="Arial"/>
              </a:rPr>
              <a:t>Ray-cast sensing steers clear of structure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6000292" y="4224528"/>
            <a:ext cx="18836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6234379" y="3730752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Oval 17435"/>
          <p:cNvSpPr/>
          <p:nvPr/>
        </p:nvSpPr>
        <p:spPr>
          <a:xfrm>
            <a:off x="6344107" y="384048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746443" y="3867912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A44"/>
                </a:solidFill>
                <a:latin typeface="Arial"/>
              </a:rPr>
              <a:t>Zoom capture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344107" y="4279392"/>
            <a:ext cx="14264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6270"/>
                </a:solidFill>
                <a:latin typeface="Arial"/>
              </a:rPr>
              <a:t>8.7× zoom (9° HFOV) from 8 m, at the achieved pose</a:t>
            </a:r>
          </a:p>
        </p:txBody>
      </p:sp>
      <p:sp>
        <p:nvSpPr>
          <p:cNvPr id="17439" name="Right Arrow 17438"/>
          <p:cNvSpPr/>
          <p:nvPr/>
        </p:nvSpPr>
        <p:spPr>
          <a:xfrm>
            <a:off x="7926019" y="4224528"/>
            <a:ext cx="18836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8160105" y="3730752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Oval 17440"/>
          <p:cNvSpPr/>
          <p:nvPr/>
        </p:nvSpPr>
        <p:spPr>
          <a:xfrm>
            <a:off x="8269833" y="384048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672169" y="3867912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A44"/>
                </a:solidFill>
                <a:latin typeface="Arial"/>
              </a:rPr>
              <a:t>Detect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269833" y="4279392"/>
            <a:ext cx="14264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6270"/>
                </a:solidFill>
                <a:latin typeface="Arial"/>
              </a:rPr>
              <a:t>Faster R-CNN flags defects in each image</a:t>
            </a:r>
          </a:p>
        </p:txBody>
      </p:sp>
      <p:sp>
        <p:nvSpPr>
          <p:cNvPr id="17444" name="Right Arrow 17443"/>
          <p:cNvSpPr/>
          <p:nvPr/>
        </p:nvSpPr>
        <p:spPr>
          <a:xfrm>
            <a:off x="9851745" y="4224528"/>
            <a:ext cx="18836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10085832" y="3730752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10195559" y="384048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10597896" y="3867912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A44"/>
                </a:solidFill>
                <a:latin typeface="Arial"/>
              </a:rPr>
              <a:t>Score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10195559" y="4279392"/>
            <a:ext cx="14264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6270"/>
                </a:solidFill>
                <a:latin typeface="Arial"/>
              </a:rPr>
              <a:t>Checked against 192 known defects; report per bridge member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57200" y="5212080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658368" y="5285232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70C0"/>
                </a:solidFill>
                <a:latin typeface="Arial"/>
              </a:rPr>
              <a:t>Working prototype today: </a:t>
            </a:r>
            <a:r>
              <a:rPr sz="1250" b="0" i="0">
                <a:solidFill>
                  <a:srgbClr val="1F2A44"/>
                </a:solidFill>
                <a:latin typeface="Arial"/>
              </a:rPr>
              <a:t>all six steps run end-to-end in simulation, with measured results on the next slide. </a:t>
            </a:r>
            <a:r>
              <a:rPr sz="1250" b="1" i="0">
                <a:solidFill>
                  <a:srgbClr val="0070C0"/>
                </a:solidFill>
                <a:latin typeface="Arial"/>
              </a:rPr>
              <a:t>Next: </a:t>
            </a:r>
            <a:r>
              <a:rPr sz="1250" b="0" i="0">
                <a:solidFill>
                  <a:srgbClr val="1F2A44"/>
                </a:solidFill>
                <a:latin typeface="Arial"/>
              </a:rPr>
              <a:t>run the same stack live in Gazebo + ROS 2, then on PX4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100" b="1"/>
              <a:t>@TRINETRA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7043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4813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6270"/>
                </a:solidFill>
                <a:latin typeface="Arial"/>
              </a:rPr>
              <a:t>Measured in our simulation — not estimated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847088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596270"/>
                </a:solidFill>
                <a:latin typeface="Arial"/>
              </a:rPr>
              <a:t>—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48840" y="1847088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96270"/>
                </a:solidFill>
                <a:latin typeface="Arial"/>
              </a:rPr>
              <a:t>bridge surface coverage — route planned with no defect data (pending freeze)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2578608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596270"/>
                </a:solidFill>
                <a:latin typeface="Arial"/>
              </a:rPr>
              <a:t>—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148840" y="2578608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96270"/>
                </a:solidFill>
                <a:latin typeface="Arial"/>
              </a:rPr>
              <a:t>known defects fell inside a settled camera view (pending freeze)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3310128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596270"/>
                </a:solidFill>
                <a:latin typeface="Arial"/>
              </a:rPr>
              <a:t>—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148840" y="3310128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96270"/>
                </a:solidFill>
                <a:latin typeface="Arial"/>
              </a:rPr>
              <a:t>flight-log entries show avoidance driven by the sensor, not a map (pending freeze)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7200" y="4041648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596270"/>
                </a:solidFill>
                <a:latin typeface="Arial"/>
              </a:rPr>
              <a:t>—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148840" y="4041648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96270"/>
                </a:solidFill>
                <a:latin typeface="Arial"/>
              </a:rPr>
              <a:t>waypoints with a collision or stall, before vs after sensed avoidance (pending freeze)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57200" y="4773168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  <a:latin typeface="Arial"/>
              </a:rPr>
              <a:t>0.34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148840" y="4773168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Arial"/>
              </a:rPr>
              <a:t>detector mAP@0.5 on 24 held-out defects (synthetic images)</a:t>
            </a:r>
          </a:p>
        </p:txBody>
      </p:sp>
      <p:graphicFrame>
        <p:nvGraphicFramePr>
          <p:cNvPr id="17422" name="Table 17421"/>
          <p:cNvGraphicFramePr>
            <a:graphicFrameLocks noGrp="1"/>
          </p:cNvGraphicFramePr>
          <p:nvPr/>
        </p:nvGraphicFramePr>
        <p:xfrm>
          <a:off x="5669280" y="1207008"/>
          <a:ext cx="606247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3639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91440" marR="91440" marT="54864" marB="54864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91440" marR="91440" marT="54864" marB="54864">
                    <a:solidFill>
                      <a:srgbClr val="0070C0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44"/>
                          </a:solidFill>
                          <a:latin typeface="Arial"/>
                        </a:rPr>
                        <a:t>Detection accuracy is the weakest link: 0 detections on 1,000 real bridge photos (precision = recall = 0) — doesn't yet transfer from simulation; on its own mission imagery, unseen-defect recall is 1 of 3 in-scope cases (5 of 20 for all defects, optimistic); false alarms fell from 37.6 to 0.08 per 100 tiles (v1 → v2); loose bolts (~10 px) are below reliable detection at current resolution</a:t>
                      </a:r>
                    </a:p>
                  </a:txBody>
                  <a:tcPr anchor="ctr" marL="91440" marR="91440" marT="54864" marB="54864"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44"/>
                          </a:solidFill>
                          <a:latin typeface="Arial"/>
                        </a:rPr>
                        <a:t>Retrain on real bridge datasets (CODEBRIM, dacl10k) on a GPU; higher-resolution capture for bolts; an engineer confirms every flag before it is reported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44"/>
                          </a:solidFill>
                          <a:latin typeface="Arial"/>
                        </a:rPr>
                        <a:t>Collisions in the dense steel truss: stuck/collision rate before → after the Section 4 fix is pending the freeze — see the stat at left</a:t>
                      </a:r>
                    </a:p>
                  </a:txBody>
                  <a:tcPr anchor="ctr" marL="91440" marR="91440" marT="54864" marB="54864"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44"/>
                          </a:solidFill>
                          <a:latin typeface="Arial"/>
                        </a:rPr>
                        <a:t>Clearance checks along the whole path, not just at waypoints; slower close-range legs; target under 5% before any field flight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44"/>
                          </a:solidFill>
                          <a:latin typeface="Arial"/>
                        </a:rPr>
                        <a:t>No GPS under the deck; magnetic noise near 25 kV railway overhead lines</a:t>
                      </a:r>
                    </a:p>
                  </a:txBody>
                  <a:tcPr anchor="ctr" marL="91440" marR="91440" marT="54864" marB="54864"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44"/>
                          </a:solidFill>
                          <a:latin typeface="Arial"/>
                        </a:rPr>
                        <a:t>Visual-inertial / LiDAR SLAM, as used by Flyability's Elios 3; compass-free heading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3" name="Rounded Rectangle 17422"/>
          <p:cNvSpPr/>
          <p:nvPr/>
        </p:nvSpPr>
        <p:spPr>
          <a:xfrm>
            <a:off x="457200" y="5577840"/>
            <a:ext cx="11274552" cy="6400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658368" y="5605272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Regulatory path: </a:t>
            </a:r>
            <a:r>
              <a:rPr sz="1150" b="0" i="0">
                <a:solidFill>
                  <a:srgbClr val="1F2A44"/>
                </a:solidFill>
                <a:latin typeface="Arial"/>
              </a:rPr>
              <a:t>Drone Rules 2021 R&amp;D exemption at prototype stage → DGCA type certificate through a QCI-approved body (~₹1.5 lakh at NTH) → railway safety permits for any work near live 25 kV lines.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100" b="1"/>
              <a:t>@TRINETRA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640080" y="124358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0070C0"/>
                </a:solidFill>
                <a:latin typeface="Arial"/>
              </a:rPr>
              <a:t>1,47,523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81051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F2A44"/>
                </a:solidFill>
                <a:latin typeface="Arial"/>
              </a:rPr>
              <a:t>railway bridges in India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88536" y="11887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4471416" y="124358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0070C0"/>
                </a:solidFill>
                <a:latin typeface="Arial"/>
              </a:rPr>
              <a:t>37,689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471416" y="181051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F2A44"/>
                </a:solidFill>
                <a:latin typeface="Arial"/>
              </a:rPr>
              <a:t>of them over 100 years old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19872" y="11887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8302752" y="124358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0070C0"/>
                </a:solidFill>
                <a:latin typeface="Arial"/>
              </a:rPr>
              <a:t>≈ 33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302752" y="181051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F2A44"/>
                </a:solidFill>
                <a:latin typeface="Arial"/>
              </a:rPr>
              <a:t>bridges per bridge-staff member in post (1,47,523 ÷ 4,517)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57200" y="23774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96270"/>
                </a:solidFill>
                <a:latin typeface="Arial"/>
              </a:rPr>
              <a:t>Source: Standing Committee on Railways, Maintenance of Bridges in Indian Railways (Jan 2019), ref. 1. Inspections rely on the “visual perception” of the inspecting official.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57200" y="27432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3127248"/>
            <a:ext cx="53949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150" b="1" i="0">
                <a:solidFill>
                  <a:srgbClr val="1F2A44"/>
                </a:solidFill>
                <a:latin typeface="Arial"/>
              </a:rPr>
              <a:t>Indian Railways — </a:t>
            </a:r>
            <a:r>
              <a:rPr sz="1150" b="0" i="0">
                <a:solidFill>
                  <a:srgbClr val="1F2A44"/>
                </a:solidFill>
                <a:latin typeface="Arial"/>
              </a:rPr>
              <a:t>fits the Railway Board's drone-inspection circulars and its Bridge Management System (4D BrIM)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150" b="1" i="0">
                <a:solidFill>
                  <a:srgbClr val="1F2A44"/>
                </a:solidFill>
                <a:latin typeface="Arial"/>
              </a:rPr>
              <a:t>NHAI, MoRTH and state PWDs — </a:t>
            </a:r>
            <a:r>
              <a:rPr sz="1150" b="0" i="0">
                <a:solidFill>
                  <a:srgbClr val="1F2A44"/>
                </a:solidFill>
                <a:latin typeface="Arial"/>
              </a:rPr>
              <a:t>e.g. Gujarat's Roads &amp; Buildings department after the Gambhira collapse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150" b="1" i="0">
                <a:solidFill>
                  <a:srgbClr val="1F2A44"/>
                </a:solidFill>
                <a:latin typeface="Arial"/>
              </a:rPr>
              <a:t>Metro operators (DMRC) — </a:t>
            </a:r>
            <a:r>
              <a:rPr sz="1150" b="0" i="0">
                <a:solidFill>
                  <a:srgbClr val="1F2A44"/>
                </a:solidFill>
                <a:latin typeface="Arial"/>
              </a:rPr>
              <a:t>viaduct inspection without closing lines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150" b="1" i="0">
                <a:solidFill>
                  <a:srgbClr val="1F2A44"/>
                </a:solidFill>
                <a:latin typeface="Arial"/>
              </a:rPr>
              <a:t>Rescue teams — </a:t>
            </a:r>
            <a:r>
              <a:rPr sz="1150" b="0" i="0">
                <a:solidFill>
                  <a:srgbClr val="1F2A44"/>
                </a:solidFill>
                <a:latin typeface="Arial"/>
              </a:rPr>
              <a:t>a quick structural check of a flood- or quake-damaged bridge before convoys cross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45352" y="27432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45352" y="3200400"/>
            <a:ext cx="5486400" cy="62179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6400800" y="3200400"/>
            <a:ext cx="1417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70C0"/>
                </a:solidFill>
                <a:latin typeface="Arial"/>
              </a:rPr>
              <a:t>Social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818120" y="3200400"/>
            <a:ext cx="37947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Arial"/>
              </a:rPr>
              <a:t>Earlier warning of failing spans; inspectors off ropes and scaffolds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45352" y="3904487"/>
            <a:ext cx="5486400" cy="62179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6400800" y="3904487"/>
            <a:ext cx="1417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70C0"/>
                </a:solidFill>
                <a:latin typeface="Arial"/>
              </a:rPr>
              <a:t>Economic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818120" y="3904487"/>
            <a:ext cx="37947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Arial"/>
              </a:rPr>
              <a:t>No lane closures or snooper trucks; each year's images map onto the same twin, so every defect is tracked over time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245352" y="4608575"/>
            <a:ext cx="5486400" cy="62179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6400800" y="4608575"/>
            <a:ext cx="1417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70C0"/>
                </a:solidFill>
                <a:latin typeface="Arial"/>
              </a:rPr>
              <a:t>Environmental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818120" y="4608575"/>
            <a:ext cx="37947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Arial"/>
              </a:rPr>
              <a:t>Battery-electric; fewer heavy access vehicles and fewer emergency rebuilds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57200" y="5532120"/>
            <a:ext cx="11274552" cy="658368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658368" y="5559552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B45F06"/>
                </a:solidFill>
                <a:latin typeface="Arial"/>
              </a:rPr>
              <a:t>Where it fits: </a:t>
            </a:r>
            <a:r>
              <a:rPr sz="1150" b="0" i="0">
                <a:solidFill>
                  <a:srgbClr val="1F2A44"/>
                </a:solidFill>
                <a:latin typeface="Arial"/>
              </a:rPr>
              <a:t>between satellite radar, which tracks millimetre movement across whole regions but can't see under a deck, and manual close inspection, which can but is slow, risky and subjective.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100" b="1"/>
              <a:t>@TRINETRA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600200"/>
            <a:ext cx="5440680" cy="461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The problem in India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1.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Standing Committee on Railways (2019). Maintenance of Bridges in Indian Railways – A Review. </a:t>
            </a:r>
            <a:r>
              <a:rPr sz="1050" b="0" i="0">
                <a:solidFill>
                  <a:srgbClr val="0070C0"/>
                </a:solidFill>
                <a:latin typeface="Arial"/>
                <a:hlinkClick r:id="rId4"/>
              </a:rPr>
              <a:t>prsindia.org/policy/report-summaries/maintenance-of-bridges-in-indian-railways-a-review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2.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Gambhira Bridge collapse, Vadodara–Anand, 9 July 2025. </a:t>
            </a:r>
            <a:r>
              <a:rPr sz="1050" b="0" i="0">
                <a:solidFill>
                  <a:srgbClr val="0070C0"/>
                </a:solidFill>
                <a:latin typeface="Arial"/>
                <a:hlinkClick r:id="rId5"/>
              </a:rPr>
              <a:t>en.wikipedia.org/wiki/Gambhira_Bridge_collapse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3.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Railway Board circular 2021/25/CE-III/BR/BMS/Drone: 4D BrIM inspection of railway bridges using UAS. </a:t>
            </a:r>
            <a:r>
              <a:rPr sz="1050" b="0" i="1">
                <a:solidFill>
                  <a:srgbClr val="596270"/>
                </a:solidFill>
                <a:latin typeface="Arial"/>
              </a:rPr>
              <a:t>indianrailways.gov.in → Railway Board → Bridge policy circulars</a:t>
            </a:r>
          </a:p>
          <a:p>
            <a:pPr algn="l"/>
            <a:r>
              <a:rPr sz="800" b="0" i="0">
                <a:solidFill>
                  <a:srgbClr val="1F2A44"/>
                </a:solidFill>
                <a:latin typeface="Arial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Regulation and standards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4.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Ministry of Transport, China (Feb 2026). UAV highway-bridge inspection technical guideline, 交办公路〔2026〕8号 (3 m minimum standoff). </a:t>
            </a:r>
            <a:r>
              <a:rPr sz="1050" b="0" i="0">
                <a:solidFill>
                  <a:srgbClr val="0070C0"/>
                </a:solidFill>
                <a:latin typeface="Arial"/>
                <a:hlinkClick r:id="rId6"/>
              </a:rPr>
              <a:t>xxgk.mot.gov.cn/jigou/glj/202602/P020260228435553861410.pdf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5.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Ministry of Civil Aviation. Drone Rules 2021 and type certification. </a:t>
            </a:r>
            <a:r>
              <a:rPr sz="1050" b="0" i="0">
                <a:solidFill>
                  <a:srgbClr val="0070C0"/>
                </a:solidFill>
                <a:latin typeface="Arial"/>
                <a:hlinkClick r:id="rId7"/>
              </a:rPr>
              <a:t>pib.gov.in/PressReleasePage.aspx?PRID=1833750</a:t>
            </a:r>
          </a:p>
          <a:p>
            <a:pPr algn="l"/>
            <a:r>
              <a:rPr sz="800" b="0" i="0">
                <a:solidFill>
                  <a:srgbClr val="1F2A44"/>
                </a:solidFill>
                <a:latin typeface="Arial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291072" y="1600200"/>
            <a:ext cx="5440680" cy="461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Technical basis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6.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Wang et al. RCO-YOLOv5 UAV bridge-defect detection, mAP@0.5 = 91.0%. ASCE J. Perform. Constr. Facil. </a:t>
            </a:r>
            <a:r>
              <a:rPr sz="1050" b="0" i="0">
                <a:solidFill>
                  <a:srgbClr val="0070C0"/>
                </a:solidFill>
                <a:latin typeface="Arial"/>
                <a:hlinkClick r:id="rId8"/>
              </a:rPr>
              <a:t>doi.org/10.1061/JPCFEV.CFENG-5441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7.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Mundt et al. (CVPR 2019). CODEBRIM concrete bridge-defect dataset. </a:t>
            </a:r>
            <a:r>
              <a:rPr sz="1050" b="0" i="0">
                <a:solidFill>
                  <a:srgbClr val="0070C0"/>
                </a:solidFill>
                <a:latin typeface="Arial"/>
                <a:hlinkClick r:id="rId9"/>
              </a:rPr>
              <a:t>arxiv.org/abs/1904.08486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8.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Flotzinger et al. (WACV 2024). dacl10k bridge-damage benchmark. </a:t>
            </a:r>
            <a:r>
              <a:rPr sz="1050" b="0" i="0">
                <a:solidFill>
                  <a:srgbClr val="0070C0"/>
                </a:solidFill>
                <a:latin typeface="Arial"/>
                <a:hlinkClick r:id="rId10"/>
              </a:rPr>
              <a:t>arxiv.org/abs/2309.00460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9.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Milillo et al., Nature Communications (2025): fewer than 1 in 5 long-span bridges are monitored. </a:t>
            </a:r>
            <a:r>
              <a:rPr sz="1050" b="0" i="1">
                <a:solidFill>
                  <a:srgbClr val="596270"/>
                </a:solidFill>
                <a:latin typeface="Arial"/>
              </a:rPr>
              <a:t>NASA Science summary, 12 Dec 2025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10.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Flyability Elios 3: LiDAR-SLAM inspection drone for GPS-denied spaces. </a:t>
            </a:r>
            <a:r>
              <a:rPr sz="1050" b="0" i="0">
                <a:solidFill>
                  <a:srgbClr val="0070C0"/>
                </a:solidFill>
                <a:latin typeface="Arial"/>
                <a:hlinkClick r:id="rId11"/>
              </a:rPr>
              <a:t>flyability.com/elios-3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11. </a:t>
            </a:r>
            <a:r>
              <a:rPr sz="1200" b="0" i="0">
                <a:solidFill>
                  <a:srgbClr val="1F2A44"/>
                </a:solidFill>
                <a:latin typeface="Arial"/>
              </a:rPr>
              <a:t>PyTorch torchvision detection models (BSD-3-Clause). </a:t>
            </a:r>
            <a:r>
              <a:rPr sz="1050" b="0" i="0">
                <a:solidFill>
                  <a:srgbClr val="0070C0"/>
                </a:solidFill>
                <a:latin typeface="Arial"/>
                <a:hlinkClick r:id="rId12"/>
              </a:rPr>
              <a:t>pytorch.org/vision/stable/models.html</a:t>
            </a:r>
          </a:p>
          <a:p>
            <a:pPr algn="l"/>
            <a:r>
              <a:rPr sz="800" b="0" i="0">
                <a:solidFill>
                  <a:srgbClr val="1F2A44"/>
                </a:solidFill>
                <a:latin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